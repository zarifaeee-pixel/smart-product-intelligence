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3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5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114800"/>
            <a:ext cx="4572000" cy="4572000"/>
          </a:xfrm>
          <a:prstGeom prst="ellipse">
            <a:avLst/>
          </a:prstGeom>
          <a:solidFill>
            <a:srgbClr val="F9E795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0" y="4389120"/>
            <a:ext cx="2011680" cy="2011680"/>
          </a:xfrm>
          <a:prstGeom prst="ellipse">
            <a:avLst/>
          </a:prstGeom>
          <a:solidFill>
            <a:srgbClr val="F9E795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KHAZAR UNIVERSITY  •  HANDS-ON DEEP LEARNING CAPSTONE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Product Intelligence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deep learning system for the Toys &amp; Games category of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Reviews 2023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1312164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1312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MLP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08276" y="4114800"/>
            <a:ext cx="1696212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08276" y="4114800"/>
            <a:ext cx="1696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69080" y="4114800"/>
            <a:ext cx="1216152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69080" y="4114800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49824" y="4114800"/>
            <a:ext cx="1408176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49824" y="411480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22592" y="4114800"/>
            <a:ext cx="112014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22592" y="4114800"/>
            <a:ext cx="112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RAG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07324" y="4114800"/>
            <a:ext cx="112014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07324" y="4114800"/>
            <a:ext cx="112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92056" y="4114800"/>
            <a:ext cx="1312164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92056" y="4114800"/>
            <a:ext cx="1312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577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897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Sadigova Zarifa   •   Amiyeva Shola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Reviews 2023 (McAuley Lab) — Toys &amp; Games category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dataset, every technique from the course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metadata, review text, and product images for the same products are used across all 8 milestones (M0–M7).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rule: every predictive task starts with a simple baseline (linear/logistic regression or majority class), then a deep learning model must beat it.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are performed at the product level (not by review) to avoid data leakage between train / val / test.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1554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29400" y="1783080"/>
            <a:ext cx="548640" cy="54864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074" y="19147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29400" y="24231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5,034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629400" y="29260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281160" y="1554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509760" y="1783080"/>
            <a:ext cx="548640" cy="54864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1434" y="191475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509760" y="24231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10,098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9509760" y="29260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0" y="36576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629400" y="3886200"/>
            <a:ext cx="548640" cy="54864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074" y="401787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9400" y="4526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1,569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6629400" y="5029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Images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281160" y="36576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509760" y="3886200"/>
            <a:ext cx="548640" cy="54864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1434" y="401787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09760" y="4526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70/15/15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9509760" y="5029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split (by product)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 — Tabular MLP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product rating from price, review count, and category count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852160" cy="2377440"/>
          </a:xfrm>
          <a:prstGeom prst="roundRect">
            <a:avLst>
              <a:gd name="adj" fmla="val 3077"/>
            </a:avLst>
          </a:prstGeom>
          <a:solidFill>
            <a:srgbClr val="FBFB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MLP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86000"/>
          <a:ext cx="5294376" cy="14630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(Keras)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206240"/>
            <a:ext cx="5852160" cy="2103120"/>
          </a:xfrm>
          <a:prstGeom prst="roundRect">
            <a:avLst>
              <a:gd name="adj" fmla="val 3478"/>
            </a:avLst>
          </a:prstGeom>
          <a:solidFill>
            <a:srgbClr val="2F3C7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54456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4434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beats the linear baseline on all 3 metrics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77240" y="4983480"/>
            <a:ext cx="5349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analysis: largest errors occur for genuinely low-rated products (2.6–3.3★), which the model over-predicts toward ~4.3–4.5 — it regresses toward the dominant rating range in the training data.</a:t>
            </a:r>
            <a:endParaRPr lang="en-US" sz="1200" dirty="0"/>
          </a:p>
        </p:txBody>
      </p:sp>
      <p:pic>
        <p:nvPicPr>
          <p:cNvPr id="14" name="Image 2" descr="/home/claude/report/images/m1-cell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75120" y="1645920"/>
            <a:ext cx="5029200" cy="19339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75120" y="36576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Training/validation loss (MSE) and MAE across epochs (early stopping applied).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675120" y="429768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F9E79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6949440" y="452628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convergence, val. metrics track training closely — dropout + early stopping prevented overfitting on this small feature set (3 inputs).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 — Computer Vision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image-based “good (≥4.5★)” vs “not good” from product photos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852160" cy="17373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Majority-class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from scratch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learning (MobileNetV2)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429000"/>
            <a:ext cx="5852160" cy="2880360"/>
          </a:xfrm>
          <a:prstGeom prst="roundRect">
            <a:avLst>
              <a:gd name="adj" fmla="val 2540"/>
            </a:avLst>
          </a:prstGeom>
          <a:solidFill>
            <a:srgbClr val="2F3C7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76732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3657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negative result on transfer learning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777240" y="4160520"/>
            <a:ext cx="53492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D7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(the fair metric here, given a tiny n=35 test set and class imbalance) is the most informative comparison.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D7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CNN trained from scratch (0.598) outperforms both the baseline (0.444) and frozen MobileNetV2 (0.440).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cause: generic ImageNet features aren't well aligned with a subjective “quality/rating” label, especially with very limited training data.</a:t>
            </a:r>
            <a:endParaRPr lang="en-US" sz="1200" dirty="0"/>
          </a:p>
        </p:txBody>
      </p:sp>
      <p:pic>
        <p:nvPicPr>
          <p:cNvPr id="12" name="Image 2" descr="/home/claude/report/images/m2-cell11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1554480"/>
            <a:ext cx="5029200" cy="21470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75120" y="37490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(test n=35): CNN scratch (left) predicts only “Good”; Transfer Learning (right) is more balanced but less accurate overall.</a:t>
            </a:r>
            <a:endParaRPr lang="en-US" sz="1100" dirty="0"/>
          </a:p>
        </p:txBody>
      </p:sp>
      <p:pic>
        <p:nvPicPr>
          <p:cNvPr id="14" name="Image 3" descr="/home/claude/report/images/m2-cell12-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480560"/>
            <a:ext cx="5029200" cy="17967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75120" y="6355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test predictions with true vs. predicted labels.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 — Text Vectorization &amp; Embeddings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7160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classification (TF-IDF vs. learned embeddings) + semantic product search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Classification (positive vs. negative review)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40280"/>
          <a:ext cx="4663440" cy="1188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LogReg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Embeddings (Keras)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365760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F9E795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77240" y="384048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TF-IDF edges out embeddings here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~7,000 training reviews, sparse n-gram features + a linear classifier already capture most of the lexical sentiment signal (e.g. “great”, “broke”, “disappointed”).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64-dim embedding layer trained from scratch has less data to learn nuanced word representations — both models used class-weighting for the ~88/12 imbalance.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897880" y="1691640"/>
            <a:ext cx="57607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report/images/m3-cell9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828800"/>
            <a:ext cx="5394960" cy="34198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80760" y="534924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of product description TF-IDF vectors, colored by main_category. Toys &amp; Games products spread broadly, while smaller categories form loose local clusters — evidence of category-relevant lexical 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 — Transformers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DistilBERT for sentiment classification, vs. M3 baselines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400800" cy="1828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LogReg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no GPU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 (Keras)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small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DistilBERT (fine-tuned)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~35s, GPU req.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611880"/>
            <a:ext cx="6400800" cy="2743200"/>
          </a:xfrm>
          <a:prstGeom prst="roundRect">
            <a:avLst>
              <a:gd name="adj" fmla="val 2667"/>
            </a:avLst>
          </a:prstGeom>
          <a:solidFill>
            <a:srgbClr val="2F3C7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clearly justifies its cost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777240" y="4343400"/>
            <a:ext cx="5943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D7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both M3 models on accuracy (0.923 vs 0.882/0.866) and macro-F1 (0.840 vs 0.785/0.764).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D7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gain on the minority (negative-sentiment) class: precision 0.75 / recall 0.71 / F1 0.73.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cost was tiny — 35 seconds for 2 epochs on ~1,500 examples on a free T4 GPU — making the upgrade clearly worthwhile for this task.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7269480" y="1600200"/>
            <a:ext cx="4434840" cy="4754880"/>
          </a:xfrm>
          <a:prstGeom prst="roundRect">
            <a:avLst>
              <a:gd name="adj" fmla="val 1649"/>
            </a:avLst>
          </a:prstGeom>
          <a:solidFill>
            <a:srgbClr val="FBFB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749808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Log</a:t>
            </a:r>
            <a:endParaRPr lang="en-US" sz="1400" dirty="0"/>
          </a:p>
        </p:txBody>
      </p:sp>
      <p:pic>
        <p:nvPicPr>
          <p:cNvPr id="14" name="Image 2" descr="/home/claude/report/images/m4-cell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2286000"/>
            <a:ext cx="3931920" cy="7589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98080" y="32918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1: val_acc = 91.75%</a:t>
            </a:r>
            <a:endParaRPr lang="en-US" sz="130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2: val_acc = 91.0%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fine-tuning time: 35.4s on T4 GPU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7498080" y="48006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9E795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7726680" y="49377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free GPU compute budget — 1,500-example subsample, 2 epochs, batch size 16, max_len 128.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 — LLMs, RAG &amp; Fine-tuning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37160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Flan-T5-small: review summarization + grounded Q&amp;A + zero-shot vs. fine-tuned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874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Summarizer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Flan-T5-small output for the most-reviewed product: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2926080"/>
            <a:ext cx="3154680" cy="548640"/>
          </a:xfrm>
          <a:prstGeom prst="roundRect">
            <a:avLst>
              <a:gd name="adj" fmla="val 10000"/>
            </a:avLst>
          </a:prstGeom>
          <a:solidFill>
            <a:srgbClr val="F9E795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9260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"Five Stars"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365760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a known limitation of small (80M-param) instruction models on open-ended summarization without further tuning.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07408" y="16916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2F3C7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36008" y="18745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vs. Ungrounded QA (RAG)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636008" y="24688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D7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good for kids and what do people say about its price?"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36008" y="3200400"/>
            <a:ext cx="315468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636008" y="32004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(RAG):  “Yes”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636008" y="3794760"/>
            <a:ext cx="3154680" cy="502920"/>
          </a:xfrm>
          <a:prstGeom prst="roundRect">
            <a:avLst>
              <a:gd name="adj" fmla="val 10909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636008" y="37947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Ungrounded:  “no”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636008" y="4434840"/>
            <a:ext cx="31546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answers diverge — retrieved product/review context (containing “Great”, “FANTA[STIC]”) measurably changes the model's output, demonstrating the value of grounding even with a tiny generation model.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266176" y="16916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94776" y="1874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vs. Fine-tuned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494776" y="23317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examples, 2 epochs, 8.2s on GPU. Target format: “This is a [sentiment] review. Rating: X/5.”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494776" y="3063240"/>
            <a:ext cx="3154680" cy="713232"/>
          </a:xfrm>
          <a:prstGeom prst="roundRect">
            <a:avLst>
              <a:gd name="adj" fmla="val 7692"/>
            </a:avLst>
          </a:prstGeom>
          <a:solidFill>
            <a:srgbClr val="F9E795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631936" y="306324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8/10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9729216" y="306324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exact target format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494776" y="3867912"/>
            <a:ext cx="3154680" cy="713232"/>
          </a:xfrm>
          <a:prstGeom prst="roundRect">
            <a:avLst>
              <a:gd name="adj" fmla="val 7692"/>
            </a:avLst>
          </a:prstGeom>
          <a:solidFill>
            <a:srgbClr val="F9E795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631936" y="3867912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7/10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9729216" y="3867912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sentiment label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494776" y="4672584"/>
            <a:ext cx="3154680" cy="713232"/>
          </a:xfrm>
          <a:prstGeom prst="roundRect">
            <a:avLst>
              <a:gd name="adj" fmla="val 7692"/>
            </a:avLst>
          </a:prstGeom>
          <a:solidFill>
            <a:srgbClr val="F9E795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631936" y="4672584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~0/10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9729216" y="4672584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numeric rating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494776" y="5495544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taught the output format and partly improved sentiment, but the small model couldn't reliably learn precise numeric ratings from only 250 examples.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 — Diffusion &amp; Generative AI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37160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v1.5: generating product &amp; lifestyle images from a title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657600"/>
          </a:xfrm>
          <a:prstGeom prst="roundRect">
            <a:avLst>
              <a:gd name="adj" fmla="val 2000"/>
            </a:avLst>
          </a:prstGeom>
          <a:solidFill>
            <a:srgbClr val="FBFB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report/images/m6-produc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7240" y="1874520"/>
            <a:ext cx="3200400" cy="3200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349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product photo prompt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434840" y="1645920"/>
            <a:ext cx="3657600" cy="3657600"/>
          </a:xfrm>
          <a:prstGeom prst="roundRect">
            <a:avLst>
              <a:gd name="adj" fmla="val 2000"/>
            </a:avLst>
          </a:prstGeom>
          <a:solidFill>
            <a:srgbClr val="FBFB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/home/claude/report/images/m6-lifestyl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63440" y="1874520"/>
            <a:ext cx="3200400" cy="3200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34840" y="5349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photo prompt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48640" y="5806440"/>
            <a:ext cx="7543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321040" y="1645920"/>
            <a:ext cx="3383280" cy="4572000"/>
          </a:xfrm>
          <a:prstGeom prst="roundRect">
            <a:avLst>
              <a:gd name="adj" fmla="val 2162"/>
            </a:avLst>
          </a:prstGeom>
          <a:solidFill>
            <a:srgbClr val="2F3C7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8549640" y="18745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368" y="198424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0" y="1874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8549640" y="246888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</a:t>
            </a:r>
            <a:endParaRPr lang="en-US" sz="12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D7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coherent, well-composed images matching the product's general theme.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modes: </a:t>
            </a:r>
            <a:endParaRPr lang="en-US" sz="12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D7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branding/packaging text isn't reproduced — the model has no access to the actual product image, only its title.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use: 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hero/lifestyle images for new listings, or marketing concept variations — not literal product photography.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097280"/>
            <a:ext cx="3657600" cy="3657600"/>
          </a:xfrm>
          <a:prstGeom prst="ellipse">
            <a:avLst/>
          </a:prstGeom>
          <a:solidFill>
            <a:srgbClr val="F96167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F9E79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M7 — Integration &amp; Final Takeaways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37160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combined into one Smart Product Assistant (Gradio demo)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6916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20574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vs. actual rating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862072" y="16002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999232" y="16916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999232" y="20574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Image-based quality label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175504" y="16002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12664" y="16916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12664" y="20574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products (semantic search)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88936" y="16002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626096" y="16916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626096" y="20574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Pros/cons summary + grounded Q&amp;A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802368" y="16002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939528" y="16916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939528" y="20574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generated hero image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8640" y="31546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D7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end-to-end on a T4 GPU in Google Colab — produces a complete report for any selected product without errors. Per the brief, M7 assembles earlier outputs rather than introducing new models.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3886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models beat baselines in M1, M3 (comparable), and M4 — reported transparently where they didn't (M2 transfer learning).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used throughout due to strong class imbalance in ratings &amp; sentiment.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splits performed at the product level — no leakage between train/val/test.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open models (DistilBERT, Flan-T5-small) + TF-IDF retrieval cover the full transformer &amp; LLM/RAG pipeline within a free GPU budget.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Gradio demo integrates all 6 predictive/generative components into one working assistant.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Sadigova Zarifa  •  Amiyeva Shola  —  Smart Product Intelligence Capstone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1239</Words>
  <Application>Microsoft Office PowerPoint</Application>
  <PresentationFormat>Widescreen</PresentationFormat>
  <Paragraphs>169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Product Intelligence</dc:title>
  <dc:subject>PptxGenJS Presentation</dc:subject>
  <dc:creator>Sadigova Zarifa, Amiyeva Shola</dc:creator>
  <cp:lastModifiedBy>Zarifa Sadixova (Mehman)</cp:lastModifiedBy>
  <cp:revision>3</cp:revision>
  <dcterms:created xsi:type="dcterms:W3CDTF">2026-06-11T06:56:07Z</dcterms:created>
  <dcterms:modified xsi:type="dcterms:W3CDTF">2026-06-11T07:00:00Z</dcterms:modified>
</cp:coreProperties>
</file>